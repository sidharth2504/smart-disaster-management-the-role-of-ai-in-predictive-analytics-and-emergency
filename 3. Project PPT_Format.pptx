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702" r:id="rId2"/>
    <p:sldMasterId id="2147483686" r:id="rId3"/>
  </p:sldMasterIdLst>
  <p:notesMasterIdLst>
    <p:notesMasterId r:id="rId20"/>
  </p:notesMasterIdLst>
  <p:handoutMasterIdLst>
    <p:handoutMasterId r:id="rId21"/>
  </p:handoutMasterIdLst>
  <p:sldIdLst>
    <p:sldId id="277" r:id="rId4"/>
    <p:sldId id="399" r:id="rId5"/>
    <p:sldId id="400" r:id="rId6"/>
    <p:sldId id="401" r:id="rId7"/>
    <p:sldId id="402" r:id="rId8"/>
    <p:sldId id="403" r:id="rId9"/>
    <p:sldId id="411" r:id="rId10"/>
    <p:sldId id="408" r:id="rId11"/>
    <p:sldId id="409" r:id="rId12"/>
    <p:sldId id="404" r:id="rId13"/>
    <p:sldId id="412" r:id="rId14"/>
    <p:sldId id="405" r:id="rId15"/>
    <p:sldId id="406" r:id="rId16"/>
    <p:sldId id="407" r:id="rId17"/>
    <p:sldId id="413" r:id="rId18"/>
    <p:sldId id="41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74" autoAdjust="0"/>
    <p:restoredTop sz="94660" autoAdjust="0"/>
  </p:normalViewPr>
  <p:slideViewPr>
    <p:cSldViewPr snapToGrid="0">
      <p:cViewPr varScale="1">
        <p:scale>
          <a:sx n="82" d="100"/>
          <a:sy n="82" d="100"/>
        </p:scale>
        <p:origin x="946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-3168" y="-7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hf hdr="0" ftr="0" dt="0"/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6053794"/>
            <a:ext cx="12196420" cy="4391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698031" y="1485360"/>
            <a:ext cx="6829425" cy="2797237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2400" i="1" dirty="0">
                <a:solidFill>
                  <a:srgbClr val="000000"/>
                </a:solidFill>
              </a:rPr>
              <a:t>Submitted in the partial fulfillment for the award of the degree of</a:t>
            </a:r>
          </a:p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000000"/>
                </a:solidFill>
              </a:rPr>
              <a:t>BACHELOR OF ENGINEERING </a:t>
            </a:r>
            <a:endParaRPr lang="en-US" sz="2400" dirty="0">
              <a:solidFill>
                <a:srgbClr val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2400" i="1" dirty="0">
                <a:solidFill>
                  <a:srgbClr val="000000"/>
                </a:solidFill>
              </a:rPr>
              <a:t> IN</a:t>
            </a:r>
          </a:p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000000"/>
                </a:solidFill>
              </a:rPr>
              <a:t>COMPUTER SCIENCE &amp; ENGINEERING</a:t>
            </a: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443345" y="6014156"/>
            <a:ext cx="588260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Department of AIT-CSE</a:t>
            </a:r>
            <a:endParaRPr lang="en-US" sz="16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657138" y="443068"/>
            <a:ext cx="847709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3600" dirty="0"/>
              <a:t>Smart Disaster Management: The Role of AI in Predictive Analytics and Emergency</a:t>
            </a:r>
            <a:endParaRPr lang="en-US" sz="3600" dirty="0">
              <a:latin typeface="Raleway ExtraBold" pitchFamily="34" charset="-52"/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807308" y="4450721"/>
            <a:ext cx="3617209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Submitted by: </a:t>
            </a:r>
          </a:p>
          <a:p>
            <a:r>
              <a:rPr lang="en-IN" sz="2000" dirty="0"/>
              <a:t>Sidharth Parmar (22BAI71078)</a:t>
            </a:r>
          </a:p>
          <a:p>
            <a:r>
              <a:rPr lang="en-IN" sz="2000" dirty="0"/>
              <a:t>Kamakshi Sharma (22BAI71125) </a:t>
            </a:r>
          </a:p>
          <a:p>
            <a:r>
              <a:rPr lang="en-IN" sz="2000" dirty="0"/>
              <a:t>Harish (22BAI71048) </a:t>
            </a:r>
          </a:p>
          <a:p>
            <a:r>
              <a:rPr lang="en-IN" sz="2000" dirty="0"/>
              <a:t>Amit (22BAI70169)</a:t>
            </a:r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7681250" y="4725655"/>
            <a:ext cx="297132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Under the Supervision of: </a:t>
            </a:r>
            <a:endParaRPr lang="en-US" sz="2000" dirty="0"/>
          </a:p>
          <a:p>
            <a:r>
              <a:rPr lang="en-US" sz="2000" dirty="0"/>
              <a:t>Dr. Mahadev  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676" y="365126"/>
            <a:ext cx="10515600" cy="976206"/>
          </a:xfrm>
        </p:spPr>
        <p:txBody>
          <a:bodyPr/>
          <a:lstStyle/>
          <a:p>
            <a:r>
              <a:rPr lang="en-US" b="1" dirty="0">
                <a:latin typeface="Times New Roman"/>
                <a:cs typeface="Times New Roman"/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04097"/>
            <a:ext cx="10515600" cy="4952253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Introduction to Project</a:t>
            </a:r>
          </a:p>
          <a:p>
            <a:r>
              <a:rPr lang="en-US" dirty="0">
                <a:latin typeface="Times New Roman"/>
                <a:cs typeface="Times New Roman"/>
              </a:rPr>
              <a:t>Problem Formulation</a:t>
            </a:r>
          </a:p>
          <a:p>
            <a:r>
              <a:rPr lang="en-US" dirty="0">
                <a:latin typeface="Times New Roman"/>
                <a:cs typeface="Times New Roman"/>
              </a:rPr>
              <a:t>Objectives of the work </a:t>
            </a:r>
          </a:p>
          <a:p>
            <a:r>
              <a:rPr lang="en-US" dirty="0">
                <a:latin typeface="Times New Roman"/>
                <a:cs typeface="Times New Roman"/>
              </a:rPr>
              <a:t>Methodology used</a:t>
            </a:r>
          </a:p>
          <a:p>
            <a:r>
              <a:rPr lang="en-US" spc="-10" dirty="0">
                <a:latin typeface="Times New Roman"/>
                <a:cs typeface="Times New Roman"/>
              </a:rPr>
              <a:t>Results and Outputs</a:t>
            </a:r>
          </a:p>
          <a:p>
            <a:r>
              <a:rPr lang="en-US" spc="-10" dirty="0">
                <a:latin typeface="Times New Roman"/>
                <a:cs typeface="Times New Roman"/>
              </a:rPr>
              <a:t>Conclusion</a:t>
            </a:r>
          </a:p>
          <a:p>
            <a:r>
              <a:rPr lang="en-US" dirty="0">
                <a:latin typeface="Times New Roman"/>
                <a:cs typeface="Times New Roman"/>
              </a:rPr>
              <a:t>Future Scope</a:t>
            </a:r>
          </a:p>
          <a:p>
            <a:r>
              <a:rPr lang="en-US" dirty="0">
                <a:latin typeface="Times New Roman"/>
                <a:cs typeface="Times New Roman"/>
              </a:rPr>
              <a:t>References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982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62269"/>
            <a:ext cx="10515600" cy="481469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b="1" dirty="0"/>
          </a:p>
          <a:p>
            <a:r>
              <a:rPr lang="en-US" dirty="0"/>
              <a:t>The number and intensity of both natural and man-made calamities are rising globally.</a:t>
            </a:r>
          </a:p>
          <a:p>
            <a:r>
              <a:rPr lang="en-US" dirty="0"/>
              <a:t>Traditional ways of managing disasters are mostly "reactive," meaning they respond </a:t>
            </a:r>
            <a:r>
              <a:rPr lang="en-US" i="1" dirty="0"/>
              <a:t>after</a:t>
            </a:r>
            <a:r>
              <a:rPr lang="en-US" dirty="0"/>
              <a:t> an incident occurs.</a:t>
            </a:r>
          </a:p>
          <a:p>
            <a:r>
              <a:rPr lang="en-US" dirty="0"/>
              <a:t>This reactive approach causes delayed emergency response, leading to significant harm to human lives and destruction of infrastructure.</a:t>
            </a:r>
          </a:p>
          <a:p>
            <a:r>
              <a:rPr lang="en-US" dirty="0"/>
              <a:t>Artificial Intelligence (AI) can transform this field, shifting it towards "proactive" management by anticipating events.</a:t>
            </a:r>
          </a:p>
          <a:p>
            <a:r>
              <a:rPr lang="en-US" dirty="0"/>
              <a:t>AI can use machine learning, remote sensing, and IoT data to provide rapid situational awareness and a more accurate estimation of the disaster's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012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11" name="Rectangle 107">
            <a:extLst>
              <a:ext uri="{FF2B5EF4-FFF2-40B4-BE49-F238E27FC236}">
                <a16:creationId xmlns:a16="http://schemas.microsoft.com/office/drawing/2014/main" id="{1819CE9A-5CEF-1C01-BDA8-8724B708F4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1040" y="1939190"/>
            <a:ext cx="11279945" cy="4124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Disasters (floods, wildfires, etc.) are increasing in frequency and scale due to climate change and urbanization.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Typical disaster management is reactive, causing slow responses and wasted resources.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Despite new sensor tech, data is fragmented and underutilized, failing to generate intelligence.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Existing predictive models lack scalability, interpretability, and sufficient data in developing nations.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 India, multilingual processing and infrastructure gaps further compromise AI-based responses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93034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</a:t>
            </a:r>
            <a:r>
              <a:rPr lang="en-US"/>
              <a:t>of the Work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582F8D5-66E1-CFC4-57F4-0EAF9BEDF4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54471"/>
            <a:ext cx="10764520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Broad Objective: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examine and highlight the role of Artificial Intelligence in predictive analytics for disaster management, including international and Indian cases.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Specific Aims:</a:t>
            </a: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overview existing AI-oriented models for different hazards (floods, earthquakes, wildfires) and outline their strengths and difficulties.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evaluate the performance of AI-based early warning systems in reducing response time and improving decision support.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assess the use of AI to integrate IoT, remote sensing, and social media for real-time situational awareness and hazard estimation.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discuss Indian case studies and their specific challenges (linguistic diversity, infrastructural shortages).</a:t>
            </a:r>
          </a:p>
        </p:txBody>
      </p:sp>
    </p:spTree>
    <p:extLst>
      <p:ext uri="{BB962C8B-B14F-4D97-AF65-F5344CB8AC3E}">
        <p14:creationId xmlns:p14="http://schemas.microsoft.com/office/powerpoint/2010/main" val="474965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2085"/>
            <a:ext cx="10515600" cy="5060789"/>
          </a:xfrm>
        </p:spPr>
        <p:txBody>
          <a:bodyPr>
            <a:noAutofit/>
          </a:bodyPr>
          <a:lstStyle/>
          <a:p>
            <a:r>
              <a:rPr lang="en-IN" sz="2600" b="1" dirty="0"/>
              <a:t>Input Data:</a:t>
            </a:r>
            <a:endParaRPr lang="en-IN" sz="2600" dirty="0"/>
          </a:p>
          <a:p>
            <a:r>
              <a:rPr lang="en-IN" sz="2600" b="1" dirty="0"/>
              <a:t>Satellite Imagery:</a:t>
            </a:r>
            <a:r>
              <a:rPr lang="en-IN" sz="2600" dirty="0"/>
              <a:t> Sentinel-1 (floods), MODIS/VIIRS (wildfires).</a:t>
            </a:r>
          </a:p>
          <a:p>
            <a:r>
              <a:rPr lang="en-IN" sz="2600" b="1" dirty="0"/>
              <a:t>Meteorological Data:</a:t>
            </a:r>
            <a:r>
              <a:rPr lang="en-IN" sz="2600" dirty="0"/>
              <a:t> Rain, temperature, wind, humidity.</a:t>
            </a:r>
          </a:p>
          <a:p>
            <a:r>
              <a:rPr lang="en-IN" sz="2600" b="1" dirty="0"/>
              <a:t>Seismic Data:</a:t>
            </a:r>
            <a:r>
              <a:rPr lang="en-IN" sz="2600" dirty="0"/>
              <a:t> P-wave &amp; S-wave amplitudes.</a:t>
            </a:r>
          </a:p>
          <a:p>
            <a:r>
              <a:rPr lang="en-IN" sz="2600" b="1" dirty="0"/>
              <a:t>IoT Sensors:</a:t>
            </a:r>
            <a:r>
              <a:rPr lang="en-IN" sz="2600" dirty="0"/>
              <a:t> River levels, fire sensors.</a:t>
            </a:r>
          </a:p>
          <a:p>
            <a:r>
              <a:rPr lang="en-IN" sz="2600" b="1" dirty="0"/>
              <a:t>Social Media:</a:t>
            </a:r>
            <a:r>
              <a:rPr lang="en-IN" sz="2600" dirty="0"/>
              <a:t> Citizen reports &amp; images.</a:t>
            </a:r>
          </a:p>
          <a:p>
            <a:endParaRPr lang="en-IN" sz="2600" dirty="0"/>
          </a:p>
          <a:p>
            <a:r>
              <a:rPr lang="en-IN" sz="2600" b="1" dirty="0"/>
              <a:t>Data Preprocessing:</a:t>
            </a:r>
            <a:endParaRPr lang="en-IN" sz="2600" dirty="0"/>
          </a:p>
          <a:p>
            <a:r>
              <a:rPr lang="en-IN" sz="2600" b="1" dirty="0"/>
              <a:t>Noise Filtering:</a:t>
            </a:r>
            <a:r>
              <a:rPr lang="en-IN" sz="2600" dirty="0"/>
              <a:t> Lee filter for SAR data.</a:t>
            </a:r>
          </a:p>
          <a:p>
            <a:r>
              <a:rPr lang="en-IN" sz="2600" b="1" dirty="0"/>
              <a:t>Normalization:</a:t>
            </a:r>
            <a:r>
              <a:rPr lang="en-IN" sz="2600" dirty="0"/>
              <a:t> Scaling features to [0, 1].</a:t>
            </a:r>
          </a:p>
          <a:p>
            <a:r>
              <a:rPr lang="en-IN" sz="2600" b="1" dirty="0"/>
              <a:t>Feature Extraction:</a:t>
            </a:r>
            <a:r>
              <a:rPr lang="en-IN" sz="2600" dirty="0"/>
              <a:t> e.g., FFT of seismic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240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E5915-9AAB-D95E-D2C9-AB8483FCD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E1FC9-DC8D-B0E1-1A41-564C52EC6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051B3-D3B0-3DD1-8799-216DF9973B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8962"/>
            <a:ext cx="10515600" cy="5469037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   </a:t>
            </a:r>
            <a:r>
              <a:rPr lang="en-IN" sz="2600" b="1" dirty="0"/>
              <a:t>Predictive </a:t>
            </a:r>
            <a:r>
              <a:rPr lang="en-IN" sz="2600" b="1" dirty="0" err="1"/>
              <a:t>Modeling</a:t>
            </a:r>
            <a:r>
              <a:rPr lang="en-IN" sz="2600" b="1" dirty="0"/>
              <a:t> (AI Models):</a:t>
            </a:r>
            <a:endParaRPr lang="en-IN" sz="2600" dirty="0"/>
          </a:p>
          <a:p>
            <a:r>
              <a:rPr lang="en-IN" sz="2600" b="1" dirty="0"/>
              <a:t>Flood Prediction:</a:t>
            </a:r>
            <a:r>
              <a:rPr lang="en-IN" sz="2600" dirty="0"/>
              <a:t> CNN + LSTM Hybrid.</a:t>
            </a:r>
          </a:p>
          <a:p>
            <a:r>
              <a:rPr lang="en-IN" sz="2600" b="1" dirty="0"/>
              <a:t>Earthquake (EEW):</a:t>
            </a:r>
            <a:r>
              <a:rPr lang="en-IN" sz="2600" dirty="0"/>
              <a:t> 1D-CNN + GRU (on P-waves).</a:t>
            </a:r>
          </a:p>
          <a:p>
            <a:r>
              <a:rPr lang="en-IN" sz="2600" b="1" dirty="0"/>
              <a:t>Wildfire Detection:</a:t>
            </a:r>
            <a:r>
              <a:rPr lang="en-IN" sz="2600" dirty="0"/>
              <a:t> Transformer-based Attention Network.</a:t>
            </a:r>
          </a:p>
          <a:p>
            <a:endParaRPr lang="en-IN" sz="2600" dirty="0"/>
          </a:p>
          <a:p>
            <a:endParaRPr lang="en-IN" sz="2600" dirty="0"/>
          </a:p>
          <a:p>
            <a:endParaRPr lang="en-IN" sz="2600" dirty="0"/>
          </a:p>
          <a:p>
            <a:endParaRPr lang="en-IN" sz="2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1811E-9544-ECF6-222F-3D026597D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5" name="Rectangle 11">
            <a:extLst>
              <a:ext uri="{FF2B5EF4-FFF2-40B4-BE49-F238E27FC236}">
                <a16:creationId xmlns:a16="http://schemas.microsoft.com/office/drawing/2014/main" id="{2D69AA6D-B99A-651D-DB1E-10BB8048A5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5225" y="3545434"/>
            <a:ext cx="10988842" cy="19236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Risk Assessment &amp; Output:</a:t>
            </a: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Risk Assessment: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 "Combined Hazard Index ($HI_{combined}$)" is computed.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Alerts: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Threshold-based (Red, Yellow, Green) alerts are issued.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Output: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Optimizes Resource Allocation for emergency teams.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1421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6B8C0-5A1A-B842-1CB2-FDBE2EF22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Methodology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7AA607B-C9AF-E1F1-8E52-9803236BA8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4506" y="1474101"/>
            <a:ext cx="7142480" cy="436879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06151D-7007-AF30-583F-1DCEBEEAC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556400-DA5E-C907-EBE4-6854E8793101}"/>
              </a:ext>
            </a:extLst>
          </p:cNvPr>
          <p:cNvSpPr txBox="1"/>
          <p:nvPr/>
        </p:nvSpPr>
        <p:spPr>
          <a:xfrm>
            <a:off x="838200" y="5842900"/>
            <a:ext cx="979893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 err="1"/>
              <a:t>Fig:Proposed</a:t>
            </a:r>
            <a:r>
              <a:rPr lang="en-US" sz="2600" dirty="0"/>
              <a:t> AI-driven disaster management pipeline: from multimodal data ingestion to probabilistic </a:t>
            </a:r>
            <a:r>
              <a:rPr lang="en-US" sz="2600" dirty="0" err="1"/>
              <a:t>decisionmaking</a:t>
            </a:r>
            <a:r>
              <a:rPr lang="en-US" sz="2600" dirty="0"/>
              <a:t> and operational outputs.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2131935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30B2E-58D7-49DC-7D94-433B1448F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11061-8D23-3047-74F0-3AB58D56C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049600"/>
            <a:ext cx="10515600" cy="489312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FIG: ER model for disaster management data platform.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78C1B3-A699-4B33-7A93-535BAD8E3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DFE1CB-9EF2-B4D2-815B-6E6D9BFED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0433" y="365125"/>
            <a:ext cx="6030167" cy="5468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7380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and Outputs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298F5C3-5B86-51A2-63A3-5EC85C560F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5120" y="1416467"/>
            <a:ext cx="10586720" cy="5570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Flood Case Study: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The proposed AI-based ensemble models performed better in detection than baseline thresholding methods. It successfully reduced "speckle noise" in SAR data, leading to improved flood delineation and a lower probability of false alarms.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Earthquake (EEW) Case Study: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The system, using short segments of P-waves, had shorter prediction latency than traditional seismic models.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Wildfire Case Study: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Transformer-based models were found to be more accurate in risk assessment. Using multimodal inputs (satellite + ground sensors) reduced false positives and maximized recall.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Comparison:</a:t>
            </a: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 EEW, a 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3-5 second reduction in latency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was found compared to conventional models.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 wildfire detection, 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recall was improved by nearly 10%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36627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3292577-2A3F-2F70-7C6D-157D5D5AFA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37553" y="1337945"/>
            <a:ext cx="4585374" cy="435133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034592-5942-E510-CCE7-435316420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35C79F9-3DC8-EE0D-5219-D62E15070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Output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F1E561-E303-2207-5BCE-1FE49DD9F89F}"/>
              </a:ext>
            </a:extLst>
          </p:cNvPr>
          <p:cNvSpPr txBox="1"/>
          <p:nvPr/>
        </p:nvSpPr>
        <p:spPr>
          <a:xfrm>
            <a:off x="1178560" y="5974080"/>
            <a:ext cx="9408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 : How AI connects diverse hazards to actionable outcomes in disaster management.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58577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74511E6-2A3E-B66A-1077-94403119E9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88060" y="1410355"/>
            <a:ext cx="10215880" cy="5447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research highlights that AI models (like CNN, RNN, Transformers, and ensembles) significantly increase the accuracy of disaster forecasting.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proposed framework outperforms existing methods by integrating heterogeneous data sources and using probabilistic decision-making.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Key Limitations (Challenges):</a:t>
            </a: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 Paucity: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Quality and coverage of data remain a major problem, especially in developing countries.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Model Generalization: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Models still struggle to generalize across different geographical or climatic regions.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Infrastructure: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Real-time implementation requires huge computation capacity and close integration with national disaster agencies (like NDMA).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04656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Scope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B422671-A8A2-D073-03D0-584AEF3AC6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3812" y="2127380"/>
            <a:ext cx="10709988" cy="378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develop "adaptive models" that can work with different regions without needing extensive retraining.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incorporate "Federated Learning" and privacy-preserving procedures to share datasets across agencies without infringing on privacy.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further develop multilingual social media analysis for true situational awareness, particularly in environments like India.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conduct wide-area "field testing" and collaborate with disaster management agencies (e.g., NDMA, IMD) to verify performance and improve deployment strategies.</a:t>
            </a:r>
          </a:p>
        </p:txBody>
      </p:sp>
    </p:spTree>
    <p:extLst>
      <p:ext uri="{BB962C8B-B14F-4D97-AF65-F5344CB8AC3E}">
        <p14:creationId xmlns:p14="http://schemas.microsoft.com/office/powerpoint/2010/main" val="19524283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S. Nevo, M. Cohen, and Y. Kogan, ”Flood forecasting with machine learning models in an operational system,”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Hydrol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Earth Syst. Sci., 2022. Outcome: operational ML + inundation mapping; Limitation: ungauged/low-data transfer.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K. Halder, S. Roy, and P. Das, ”SAR-driven flood inventory and multifactor ensemble: Malda district, India,”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Geocarto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Int., 2024. Outcome: improved flood-patch detection; Limitation: speckle/threshold sensitivity.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R. Soudagar, A. Chowdhury, and A. Bhardwaj, ”Morphological active contour model for flood extent mapping: 2023 North Indian floods,” IEEE IGARSS, Athens, 2024. Outcome: single-scene delineation; Limitation: cross-basin generalization.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R. Soudagar, A. Chowdhury, and A. Bhardwaj, ”Enhanced large-scale flood mapping using data-efficient unsupervised MAC,” J. Environ. Manage., 2025. Outcome: scalable mapping; Limitation: dependence on DEM/initialization.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A. Singh, R. Das, and S. Kumar, ”Random-Forest-based flood monitoring using Sentinel-1: Northeast India,” 2022. Outcome: exposure mapping; Limitation: class imbalance, limited ground truth.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O. Andrew, P. Lee, and S. Kim, ”CNN-based deep learning for flood susceptibility mapping,” ISPRS Int. J. Geo-Inf., 2023. Outcome: higher accuracy than RF/SVM; Limitation: overfitting small regions.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C. Ding, L. Zhao, and H. Wang, ”Wildfire detection through deep learning and geostationary imagery,” Int. J. Remote Sens., 2022. Outcome: improved monitoring latency; Limitation: cloud/illumination artifacts.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A. Saleh, B. Li, and K. Chen, ”Forest fire surveillance systems: a review of deep learning methods,”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Heliyon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 Outcome: SOTA survey; Limitation: benchmark fragmentation.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258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45CF9-7955-E18C-178B-C7BCE9D79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B2A92-59AF-79E0-6B4A-018A473103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Z. Xu, Y. Liu, and P. Zhang, ”Deep learning for wildfire risk prediction: integrating remote sensing climate,” ISPRS J.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Photogramm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Remote Sens., 2025. Outcome: risk mapping gains; Limitation: domain shift.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L. He, M. Sun, and X. Wang, ”Deep learning object detection for forest fire smoke (YOLOv11x),” Sci. Rep., 2025. Outcome: faster smoke alerts; Limitation: false positives/night detection.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[11] J. X. Lian, H. Tanaka, and S. Ito, ”Integrating ML with equal differential time for EEW,” Earth, Planets and Space, 2024. Outcome: better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hypocenter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estimates; Limitation: network-specific tuning.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[12] Y. Nakamura, T. Suzuki, and K. Saito, ”EEW starting from 3 s of P-waves via ML,” J.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Geophys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Res., 2023. Outcome: earlier magnitude/location; Limitation: small-event performance.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[13] F. Rossi, G. Bianchi, and L. Verdi, ”AI-based EEW systems: a systematic review,” 2023. Outcome: NN dominance; Limitation: inconsistent metrics/latency reporting.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[14] X. Pan, Q. Li, and Y. Chen, ”Synthetic + real waveform ensemble for earthquake magnitude prediction,”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Seismol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Res. Lett., 2024. Outcome: stabilized magnitude; Limitation: synthetic data bias.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[15] R. Bhatia and A. Singh, ”Multilingual GRU-based disaster tweet classification in India,” 2023. Outcome: improved urgent/non-urgent tagging; Limitation: handling code-mixed content.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[16] P. Sharma, M. Verma, and S. Gupta, ”CNN-attention multimodal disaster tweet analysis,” 2024. Outcome: better damage severity classification; Limitation: large annotated datasets required.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CCF269-D8A2-280F-69A9-16488A04B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198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02BC6-544C-5EB6-83B9-73F8E9622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478E0-9236-156A-E393-FFD33538F7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[17] S. Alam, H. Rahman, and T. Chen, ”Multimodal social media analytics for disaster situational awareness,” Int. J. Inf. Manage., 2023. Outcome: improved recall/precision; Limitation: high annotation cost.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[18] A. Srivastava and R. Mehta, ”AI applications in Indian urban disaster management,” 2024. Outcome: improved cyclone/flood predictions; Limitation: integration with NDMA/IMD required.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[19] K. Halder, S. Roy, and P. Das, ”Sentinel-1 ensemble flood prediction in India,” 2024. Outcome: higher accuracy; Limitation: sensitivity to speckle/thresholds.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[20] P. Sharma, M. Verma, and S. Gupta, ”Multimodal Indian disaster tweet processing,” 2024. Outcome: improved situational awareness; Limitation: multilingual code-mixing.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[21] O. Andrew, P. Lee, and S. Kim, ”CNN-based flood susceptibility mapping,” 2023. Outcome: higher accuracy; Limitation: overfitting risk.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[22] Z. Xu, Y. Liu, and P. Zhang, ”Transformer-based wildfire prediction,” 2025. Outcome: improved precision/recall; Limitation: domain shift.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[23] J. X. Lian, H. Tanaka, and S. Ito, ”Equal differential time ML for earthquake EEW,” 2024. Outcome: reduced latency; Limitation: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networkspecific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tuning.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DD41CE-4D9A-19CC-B57E-60D93660E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45875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6167</TotalTime>
  <Words>1939</Words>
  <Application>Microsoft Office PowerPoint</Application>
  <PresentationFormat>Widescreen</PresentationFormat>
  <Paragraphs>134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Calibri</vt:lpstr>
      <vt:lpstr>Calibri Light</vt:lpstr>
      <vt:lpstr>Casper</vt:lpstr>
      <vt:lpstr>Raleway ExtraBold</vt:lpstr>
      <vt:lpstr>Times New Roman</vt:lpstr>
      <vt:lpstr>1_Office Theme</vt:lpstr>
      <vt:lpstr>2_Office Theme</vt:lpstr>
      <vt:lpstr>Contents Slide Master</vt:lpstr>
      <vt:lpstr>PowerPoint Presentation</vt:lpstr>
      <vt:lpstr>Outline</vt:lpstr>
      <vt:lpstr>Introduction to Project</vt:lpstr>
      <vt:lpstr>Problem Formulation</vt:lpstr>
      <vt:lpstr>Objectives of the Work</vt:lpstr>
      <vt:lpstr>Methodology used</vt:lpstr>
      <vt:lpstr>Methodology used</vt:lpstr>
      <vt:lpstr>Methodology</vt:lpstr>
      <vt:lpstr>   </vt:lpstr>
      <vt:lpstr>Results and Outputs</vt:lpstr>
      <vt:lpstr>Output</vt:lpstr>
      <vt:lpstr>Conclusion</vt:lpstr>
      <vt:lpstr>Future Scope</vt:lpstr>
      <vt:lpstr>References</vt:lpstr>
      <vt:lpstr>References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Harish .</cp:lastModifiedBy>
  <cp:revision>493</cp:revision>
  <dcterms:created xsi:type="dcterms:W3CDTF">2019-01-09T10:33:58Z</dcterms:created>
  <dcterms:modified xsi:type="dcterms:W3CDTF">2025-11-18T04:22:58Z</dcterms:modified>
</cp:coreProperties>
</file>